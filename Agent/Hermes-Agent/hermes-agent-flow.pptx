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SOURCE CODE WALKTHROUGH · 2026-10 · COMMIT 8f5693AF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8E6E1"/>
                </a:solidFill>
                <a:latin typeface="Helvetica Neue"/>
                <a:ea typeface="PingFang SC"/>
              </a:rPr>
              <a:t>一条消息的完整旅程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0A8"/>
                </a:solidFill>
                <a:latin typeface="Helvetica Neue"/>
                <a:ea typeface="PingFang SC"/>
              </a:rPr>
              <a:t>hermes-agent：从用户按下回车，到最终回复交付，中间发生了什么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9476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E0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E0A94A"/>
                </a:solidFill>
                <a:latin typeface="SF Mono"/>
                <a:ea typeface="SF Mono"/>
              </a:rPr>
              <a:t>12 个站点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379476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13 个阶段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79476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500 次预算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3794760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MIT · NOUS RESEARCH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5394960"/>
            <a:ext cx="10424160" cy="0"/>
          </a:xfrm>
          <a:prstGeom prst="line">
            <a:avLst/>
          </a:prstGeom>
          <a:ln w="15240">
            <a:solidFill>
              <a:srgbClr val="3A4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2959" y="5349240"/>
            <a:ext cx="91440" cy="9144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82040" y="5360670"/>
            <a:ext cx="68580" cy="68580"/>
          </a:xfrm>
          <a:prstGeom prst="ellipse">
            <a:avLst/>
          </a:prstGeom>
          <a:solidFill>
            <a:srgbClr val="4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29691" y="5360670"/>
            <a:ext cx="68580" cy="68580"/>
          </a:xfrm>
          <a:prstGeom prst="ellipse">
            <a:avLst/>
          </a:prstGeom>
          <a:solidFill>
            <a:srgbClr val="4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65912" y="5349240"/>
            <a:ext cx="91440" cy="9144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4993" y="5360670"/>
            <a:ext cx="68580" cy="68580"/>
          </a:xfrm>
          <a:prstGeom prst="ellipse">
            <a:avLst/>
          </a:prstGeom>
          <a:solidFill>
            <a:srgbClr val="4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72644" y="5360670"/>
            <a:ext cx="68580" cy="68580"/>
          </a:xfrm>
          <a:prstGeom prst="ellipse">
            <a:avLst/>
          </a:prstGeom>
          <a:solidFill>
            <a:srgbClr val="4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8865" y="5349240"/>
            <a:ext cx="91440" cy="9144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67946" y="5360670"/>
            <a:ext cx="68580" cy="68580"/>
          </a:xfrm>
          <a:prstGeom prst="ellipse">
            <a:avLst/>
          </a:prstGeom>
          <a:solidFill>
            <a:srgbClr val="4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5597" y="5360670"/>
            <a:ext cx="68580" cy="68580"/>
          </a:xfrm>
          <a:prstGeom prst="ellipse">
            <a:avLst/>
          </a:prstGeom>
          <a:solidFill>
            <a:srgbClr val="4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51818" y="5349240"/>
            <a:ext cx="91440" cy="9144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10899" y="5360670"/>
            <a:ext cx="68580" cy="68580"/>
          </a:xfrm>
          <a:prstGeom prst="ellipse">
            <a:avLst/>
          </a:prstGeom>
          <a:solidFill>
            <a:srgbClr val="4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47119" y="5349240"/>
            <a:ext cx="91440" cy="9144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623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准备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623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循环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623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收尾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078"/>
                </a:solidFill>
                <a:latin typeface="Helvetica Neue"/>
                <a:ea typeface="PingFang SC"/>
              </a:rPr>
              <a:t>配套：hermes-agent-flow.html（交互动画）· hermes-agent-animation.html（架构动画）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一次 turn 的三个阶段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准备一次、循环 N 次、收尾一次 —— 循环次数由模型决定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29000" cy="315468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41832" y="2048256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94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A94A"/>
                </a:solidFill>
                <a:latin typeface="SF Mono"/>
                <a:ea typeface="SF Mono"/>
              </a:rPr>
              <a:t>01 — 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688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6E1"/>
                </a:solidFill>
                <a:latin typeface="Helvetica Neue"/>
                <a:ea typeface="PingFang SC"/>
              </a:rPr>
              <a:t>把状态变成一次请求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71800"/>
            <a:ext cx="29260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入口：宿主收到消息，定位 session，分配 turn_id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回合准备：恢复或构建三层 system prompt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请求装配：messages + 工具 schema + 缓存断点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429000" cy="315468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690872" y="2048256"/>
            <a:ext cx="310896" cy="91440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94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AA9E0"/>
                </a:solidFill>
                <a:latin typeface="SF Mono"/>
                <a:ea typeface="SF Mono"/>
              </a:rPr>
              <a:t>02 — 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4688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6E1"/>
                </a:solidFill>
                <a:latin typeface="Helvetica Neue"/>
                <a:ea typeface="PingFang SC"/>
              </a:rPr>
              <a:t>模型说一句，工具做一次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971800"/>
            <a:ext cx="29260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调用：可中断的流式 HTTP 请求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摄入：空响应 / 截断 / 拒答检查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工具轮：校验 → 护栏 → 审批 → 分段执行 → 回填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回边：有 tool_calls 就回到装配，预算 500 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28800"/>
            <a:ext cx="3429000" cy="315468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439911" y="2048256"/>
            <a:ext cx="310896" cy="91440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2194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FBF9A"/>
                </a:solidFill>
                <a:latin typeface="SF Mono"/>
                <a:ea typeface="SF Mono"/>
              </a:rPr>
              <a:t>03 — 收尾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4688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6E1"/>
                </a:solidFill>
                <a:latin typeface="Helvetica Neue"/>
                <a:ea typeface="PingFang SC"/>
              </a:rPr>
              <a:t>把结果落盘并交付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2971800"/>
            <a:ext cx="29260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stop gates：四道闸门确认不是假完成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finalize：写 SQLite、刷记忆、触发复盘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40" b="0" i="0">
                <a:solidFill>
                  <a:srgbClr val="9AA0A8"/>
                </a:solidFill>
                <a:latin typeface="Helvetica Neue"/>
                <a:ea typeface="PingFang SC"/>
              </a:rPr>
              <a:t>· 交付：回到宿主渲染或推送到平台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三个阶段的边界就是三个可观测点：请求发出、工具返回、消息落盘 —— 出问题先看这三处。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入口：一条消息变成一次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宿主很多，但只有一套会话权威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01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943600" cy="100584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4088" y="2020824"/>
            <a:ext cx="45720" cy="713232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20824"/>
            <a:ext cx="5559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AA9E0"/>
                </a:solidFill>
                <a:latin typeface="Helvetica Neue"/>
                <a:ea typeface="PingFang SC"/>
              </a:rPr>
              <a:t>宿主收到消息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AA0A8"/>
                </a:solidFill>
                <a:latin typeface="Helvetica Neue"/>
                <a:ea typeface="PingFang SC"/>
              </a:rPr>
              <a:t>CLI / TUI / Desktop / Telegram 等 20+ 平台 / ACP / cron 各自适配成统一事件</a:t>
            </a:r>
          </a:p>
        </p:txBody>
      </p:sp>
      <p:sp>
        <p:nvSpPr>
          <p:cNvPr id="9" name="Down Arrow 8"/>
          <p:cNvSpPr/>
          <p:nvPr/>
        </p:nvSpPr>
        <p:spPr>
          <a:xfrm>
            <a:off x="3520440" y="2898648"/>
            <a:ext cx="182880" cy="146304"/>
          </a:xfrm>
          <a:prstGeom prst="downArrow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063239"/>
            <a:ext cx="5943600" cy="100584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04088" y="3209544"/>
            <a:ext cx="45720" cy="713232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209544"/>
            <a:ext cx="5559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A94A"/>
                </a:solidFill>
                <a:latin typeface="Helvetica Neue"/>
                <a:ea typeface="PingFang SC"/>
              </a:rPr>
              <a:t>定位会话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AA0A8"/>
                </a:solidFill>
                <a:latin typeface="Helvetica Neue"/>
                <a:ea typeface="PingFang SC"/>
              </a:rPr>
              <a:t>按 profile + 平台 + 会话键找 session；网关是唯一规范写者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20440" y="4087368"/>
            <a:ext cx="182880" cy="146304"/>
          </a:xfrm>
          <a:prstGeom prst="downArrow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5943600" cy="100584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04088" y="4398264"/>
            <a:ext cx="45720" cy="713232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398264"/>
            <a:ext cx="5559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FBF9A"/>
                </a:solidFill>
                <a:latin typeface="Helvetica Neue"/>
                <a:ea typeface="PingFang SC"/>
              </a:rPr>
              <a:t>分配 turn_id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AA0A8"/>
                </a:solidFill>
                <a:latin typeface="Helvetica Neue"/>
                <a:ea typeface="PingFang SC"/>
              </a:rPr>
              <a:t>本次输入拿到 turn_id，后续所有日志、工具调用、落盘都挂在它下面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520440" y="5276088"/>
            <a:ext cx="182880" cy="146304"/>
          </a:xfrm>
          <a:prstGeom prst="downArrow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0" y="1874519"/>
            <a:ext cx="4480560" cy="27889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20574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A94A"/>
                </a:solidFill>
                <a:latin typeface="Helvetica Neue"/>
                <a:ea typeface="PingFang SC"/>
              </a:rPr>
              <a:t>宿主面（同一套内核）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42316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CLI · python cli.py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TUI · Ink + JSON-RPC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Desktop · Electron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Gateway · Telegram / Slack / Discord …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ACP · VS Code / Zed / JetBrains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Cron · 定时任务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API Server · 外部集成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界面的差异全部收敛在 L5/L6；再往里走，所有宿主看到的是同一个 AIAgent。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回合准备：三层 prompt 被冻结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一次组装，整轮字节不变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6675120" cy="86868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96112" y="2011680"/>
            <a:ext cx="45720" cy="502919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A94A"/>
                </a:solidFill>
                <a:latin typeface="SF Mono"/>
                <a:ea typeface="SF Mono"/>
              </a:rPr>
              <a:t>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11680"/>
            <a:ext cx="365760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身份 SOUL.md · 工具准则 · 编码守则 · 平台提示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993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078"/>
                </a:solidFill>
                <a:latin typeface="SF Mono"/>
                <a:ea typeface="SF Mono"/>
              </a:rPr>
              <a:t>≈ 30% 前缀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43784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96112" y="3026664"/>
            <a:ext cx="45720" cy="548640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A9E0"/>
                </a:solidFill>
                <a:latin typeface="SF Mono"/>
                <a:ea typeface="SF Mono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026664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项目上下文（.hermes.md / AGENTS.md / CLAUDE.md）· worktree 快照 · 运维指令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0837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078"/>
                </a:solidFill>
                <a:latin typeface="SF Mono"/>
                <a:ea typeface="SF Mono"/>
              </a:rPr>
              <a:t>随项目变化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04487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6112" y="4087368"/>
            <a:ext cx="45720" cy="548640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7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FBF9A"/>
                </a:solidFill>
                <a:latin typeface="SF Mono"/>
                <a:ea typeface="SF Mono"/>
              </a:rPr>
              <a:t>volatile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87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技能索引 · MEMORY.md · USER.md · 时间 · 运行时环境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06907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078"/>
                </a:solidFill>
                <a:latin typeface="SF Mono"/>
                <a:ea typeface="SF Mono"/>
              </a:rPr>
              <a:t>每会话更新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1828800"/>
            <a:ext cx="3794760" cy="2926080"/>
          </a:xfrm>
          <a:prstGeom prst="roundRect">
            <a:avLst>
              <a:gd name="adj" fmla="val 6000"/>
            </a:avLst>
          </a:prstGeom>
          <a:solidFill>
            <a:srgbClr val="1C2027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55279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A94A"/>
                </a:solidFill>
                <a:latin typeface="Helvetica Neue"/>
                <a:ea typeface="PingFang SC"/>
              </a:rPr>
              <a:t>组装完成即冻结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3774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· 同一会话内不再重建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· 改写历史是唯一禁止的动作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· 唯一合法变更：压缩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93192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6FB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6FBF9A"/>
                </a:solidFill>
                <a:latin typeface="SF Mono"/>
                <a:ea typeface="SF Mono"/>
              </a:rPr>
              <a:t>CACHE HIT 98%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31596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078"/>
                </a:solidFill>
                <a:latin typeface="Helvetica Neue"/>
                <a:ea typeface="PingFang SC"/>
              </a:rPr>
              <a:t>约定：中途注入只走 user / tool 通道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代价是改设置默认下个会话生效；收益是长会话的成本线性而不是平方级。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请求装配：这次调用到底发了什么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所有内容在一次请求里同时到达模型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760720" cy="566928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41248" y="1975104"/>
            <a:ext cx="45720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47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965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冻结的三层系统提示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760720" cy="566928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41248" y="2633472"/>
            <a:ext cx="45720" cy="274320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060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A9E0"/>
                </a:solidFill>
                <a:latin typeface="SF Mono"/>
                <a:ea typeface="SF Mono"/>
              </a:rPr>
              <a:t>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624327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历史消息（严格角色交替，tool 可连续）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45535"/>
            <a:ext cx="5760720" cy="566928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41248" y="3291839"/>
            <a:ext cx="45720" cy="274320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2644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FBF9A"/>
                </a:solidFill>
                <a:latin typeface="SF Mono"/>
                <a:ea typeface="SF Mono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82695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本会话启用的工具 schema（每个都带 JSON Schema）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03903"/>
            <a:ext cx="5760720" cy="566928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41248" y="3950207"/>
            <a:ext cx="45720" cy="274320"/>
          </a:xfrm>
          <a:prstGeom prst="roundRect">
            <a:avLst>
              <a:gd name="adj" fmla="val 50000"/>
            </a:avLst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92277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A0A8"/>
                </a:solidFill>
                <a:latin typeface="SF Mono"/>
                <a:ea typeface="SF Mono"/>
              </a:rPr>
              <a:t>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941063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Anthropic cache_control 断点：system + 最近 3 轮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583680" y="3127248"/>
            <a:ext cx="329184" cy="219456"/>
          </a:xfrm>
          <a:prstGeom prst="rightArrow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86600" y="1828800"/>
            <a:ext cx="4434840" cy="3108960"/>
          </a:xfrm>
          <a:prstGeom prst="roundRect">
            <a:avLst>
              <a:gd name="adj" fmla="val 6000"/>
            </a:avLst>
          </a:prstGeom>
          <a:solidFill>
            <a:srgbClr val="1C2027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0" y="20116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POST /chat/completions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37744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0" i="0">
                <a:solidFill>
                  <a:srgbClr val="9AA0A8"/>
                </a:solidFill>
                <a:latin typeface="SF Mono"/>
                <a:ea typeface="SF Mono"/>
              </a:rPr>
              <a:t>model · 本次路由到的模型</a:t>
            </a:r>
          </a:p>
          <a:p>
            <a:pPr>
              <a:spcAft>
                <a:spcPts val="500"/>
              </a:spcAft>
            </a:pPr>
            <a:r>
              <a:rPr sz="950" b="0" i="0">
                <a:solidFill>
                  <a:srgbClr val="9AA0A8"/>
                </a:solidFill>
                <a:latin typeface="SF Mono"/>
                <a:ea typeface="SF Mono"/>
              </a:rPr>
              <a:t>messages · 上面四块拼成的数组</a:t>
            </a:r>
          </a:p>
          <a:p>
            <a:pPr>
              <a:spcAft>
                <a:spcPts val="500"/>
              </a:spcAft>
            </a:pPr>
            <a:r>
              <a:rPr sz="950" b="0" i="0">
                <a:solidFill>
                  <a:srgbClr val="9AA0A8"/>
                </a:solidFill>
                <a:latin typeface="SF Mono"/>
                <a:ea typeface="SF Mono"/>
              </a:rPr>
              <a:t>tools · 工具定义列表</a:t>
            </a:r>
          </a:p>
          <a:p>
            <a:pPr>
              <a:spcAft>
                <a:spcPts val="500"/>
              </a:spcAft>
            </a:pPr>
            <a:r>
              <a:rPr sz="950" b="0" i="0">
                <a:solidFill>
                  <a:srgbClr val="9AA0A8"/>
                </a:solidFill>
                <a:latin typeface="SF Mono"/>
                <a:ea typeface="SF Mono"/>
              </a:rPr>
              <a:t>stream · true</a:t>
            </a:r>
          </a:p>
          <a:p>
            <a:pPr>
              <a:spcAft>
                <a:spcPts val="500"/>
              </a:spcAft>
            </a:pPr>
            <a:r>
              <a:rPr sz="950" b="0" i="0">
                <a:solidFill>
                  <a:srgbClr val="9AA0A8"/>
                </a:solidFill>
                <a:latin typeface="SF Mono"/>
                <a:ea typeface="SF Mono"/>
              </a:rPr>
              <a:t>max_tokens · 预算</a:t>
            </a:r>
          </a:p>
          <a:p>
            <a:pPr>
              <a:spcAft>
                <a:spcPts val="500"/>
              </a:spcAft>
            </a:pPr>
            <a:r>
              <a:rPr sz="950" b="0" i="0">
                <a:solidFill>
                  <a:srgbClr val="9AA0A8"/>
                </a:solidFill>
                <a:latin typeface="SF Mono"/>
                <a:ea typeface="SF Mono"/>
              </a:rPr>
              <a:t>provider · api_mode 三选一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324612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PREFLIGHT GATE · 估算 &gt; 50% 先压缩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4892040"/>
            <a:ext cx="224028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超预算 → 换段而非截断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请求体是这条链路上唯一可完整复现的输入：排障先抓它。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调用模型：一次可中断的流式请求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响应可以随时作废，但绝不会半截进入历史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835640" cy="2057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A0A8"/>
                </a:solidFill>
                <a:latin typeface="SF Mono"/>
                <a:ea typeface="SF Mono"/>
              </a:rPr>
              <a:t>HTTP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10332720" cy="310896"/>
          </a:xfrm>
          <a:prstGeom prst="roundRect">
            <a:avLst>
              <a:gd name="adj" fmla="val 50000"/>
            </a:avLst>
          </a:prstGeom>
          <a:solidFill>
            <a:srgbClr val="121519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960120" y="27432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72184" y="274320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0008" y="274320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85032" y="2743200"/>
            <a:ext cx="1920240" cy="219456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0136" y="2743200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8A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2743200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8A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Helvetica Neue"/>
                <a:ea typeface="PingFang SC"/>
              </a:rPr>
              <a:t>request 发出 → 首 token（约 1-3s）→ 流式增量 → finish_reason → usage 回报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49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7A6A"/>
                </a:solidFill>
                <a:latin typeface="Helvetica Neue"/>
                <a:ea typeface="PingFang SC"/>
              </a:rPr>
              <a:t>中断在这里发生：用户 /stop、/steer，或超时 —— 线程被放弃，响应直接丢弃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06240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6A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6AA9E0"/>
                </a:solidFill>
                <a:latin typeface="SF Mono"/>
                <a:ea typeface="SF Mono"/>
              </a:rPr>
              <a:t>可中断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4206240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6FB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6FBF9A"/>
                </a:solidFill>
                <a:latin typeface="SF Mono"/>
                <a:ea typeface="SF Mono"/>
              </a:rPr>
              <a:t>流式渲染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206240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E0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E0A94A"/>
                </a:solidFill>
                <a:latin typeface="SF Mono"/>
                <a:ea typeface="SF Mono"/>
              </a:rPr>
              <a:t>失败分类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206240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9AA0A8"/>
                </a:solidFill>
                <a:latin typeface="SF Mono"/>
                <a:ea typeface="SF Mono"/>
              </a:rPr>
              <a:t>退避重试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86968" y="4764024"/>
            <a:ext cx="4873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响应被放弃时，主线程去做新的事；历史里不会留下幽灵轮次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61772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4807" y="4764024"/>
            <a:ext cx="4873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拿到 usage 后写入 usage anchor，下一次压缩闸门先问它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这一站最贵的不是 token，是等待；所以它必须能被随时打断。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05 —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摄入与分支：一句话决定接下来走哪条路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有 tool_calls 就继续干活，纯文本才尝试收尾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577840" cy="16002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4088" y="1975104"/>
            <a:ext cx="45720" cy="1307592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519379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AA9E0"/>
                </a:solidFill>
                <a:latin typeface="Helvetica Neue"/>
                <a:ea typeface="PingFang SC"/>
              </a:rPr>
              <a:t>响应摄入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空响应 → 补一次 / 判失败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长度截断 → 续写或拼接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拒答 → 终止并记录原因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统一成内部 message 形状（含 reasoning）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46520" y="2560320"/>
            <a:ext cx="365760" cy="237744"/>
          </a:xfrm>
          <a:prstGeom prst="rightArrow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0" y="2395728"/>
            <a:ext cx="4526280" cy="548640"/>
          </a:xfrm>
          <a:prstGeom prst="roundRect">
            <a:avLst>
              <a:gd name="adj" fmla="val 6000"/>
            </a:avLst>
          </a:prstGeom>
          <a:solidFill>
            <a:srgbClr val="1C2027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86600" y="25146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6E1"/>
                </a:solidFill>
                <a:latin typeface="Helvetica Neue"/>
                <a:ea typeface="PingFang SC"/>
              </a:rPr>
              <a:t>判定：assistant 是否带 tool_calls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2962656"/>
            <a:ext cx="0" cy="283464"/>
          </a:xfrm>
          <a:prstGeom prst="line">
            <a:avLst/>
          </a:prstGeom>
          <a:ln w="12700">
            <a:solidFill>
              <a:srgbClr val="3A4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424160" y="2962656"/>
            <a:ext cx="0" cy="283464"/>
          </a:xfrm>
          <a:prstGeom prst="line">
            <a:avLst/>
          </a:prstGeom>
          <a:ln w="12700">
            <a:solidFill>
              <a:srgbClr val="3A4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329184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967727" y="3438144"/>
            <a:ext cx="45720" cy="1124712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7" y="3438144"/>
            <a:ext cx="27706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A94A"/>
                </a:solidFill>
                <a:latin typeface="Helvetica Neue"/>
                <a:ea typeface="PingFang SC"/>
              </a:rPr>
              <a:t>有 → 进工具轮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解析参数、执行、回填结果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然后回到 STATION 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0" y="3291840"/>
            <a:ext cx="1234440" cy="14173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0305288" y="3438144"/>
            <a:ext cx="45720" cy="1124712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88168" y="3438144"/>
            <a:ext cx="850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FBF9A"/>
                </a:solidFill>
                <a:latin typeface="Helvetica Neue"/>
                <a:ea typeface="PingFang SC"/>
              </a:rPr>
              <a:t>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直接进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39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4123944"/>
            <a:ext cx="5193792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分类动作发生在响应之后、工具之前：这里判断错，后面全错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分支只有两条，但判断依据来自上一步的规范化结果 —— 所以第 05 站不能省。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工具轮：并发是算出来的，不是猜出来的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按路径冲突切成有序段，结果永远按原序回填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96596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6FB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6FBF9A"/>
                </a:solidFill>
                <a:latin typeface="SF Mono"/>
                <a:ea typeface="SF Mono"/>
              </a:rPr>
              <a:t>read_file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196596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6FB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6FBF9A"/>
                </a:solidFill>
                <a:latin typeface="SF Mono"/>
                <a:ea typeface="SF Mono"/>
              </a:rPr>
              <a:t>read_file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96596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E0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E07A6A"/>
                </a:solidFill>
                <a:latin typeface="SF Mono"/>
                <a:ea typeface="SF Mono"/>
              </a:rPr>
              <a:t>patch_file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10835640" cy="502920"/>
          </a:xfrm>
          <a:prstGeom prst="roundRect">
            <a:avLst>
              <a:gd name="adj" fmla="val 6000"/>
            </a:avLst>
          </a:prstGeom>
          <a:solidFill>
            <a:srgbClr val="1C2027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0A94A"/>
                </a:solidFill>
                <a:latin typeface="Helvetica Neue"/>
                <a:ea typeface="PingFang SC"/>
              </a:rPr>
              <a:t>规划器 _plan_tool_batch_segments：屏障 / 读写冲突 / 并发安全 → 切成 parallel 与 sequential 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4983480" cy="105156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68680" y="3072384"/>
            <a:ext cx="45720" cy="292608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540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FBF9A"/>
                </a:solidFill>
                <a:latin typeface="SF Mono"/>
                <a:ea typeface="SF Mono"/>
              </a:rPr>
              <a:t>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read A ／ read B：读读无冲突，同时跑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00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07A6A"/>
                </a:solidFill>
                <a:latin typeface="Helvetica Neue"/>
                <a:ea typeface="PingFang SC"/>
              </a:rPr>
              <a:t>屏障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926080"/>
            <a:ext cx="4983480" cy="105156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720840" y="3072384"/>
            <a:ext cx="45720" cy="292608"/>
          </a:xfrm>
          <a:prstGeom prst="roundRect">
            <a:avLst>
              <a:gd name="adj" fmla="val 50000"/>
            </a:avLst>
          </a:prstGeom>
          <a:solidFill>
            <a:srgbClr val="E0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0540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A6A"/>
                </a:solidFill>
                <a:latin typeface="SF Mono"/>
                <a:ea typeface="SF Mono"/>
              </a:rPr>
              <a:t>SEQUENTIAL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3375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patch C：与任何路径重叠就单独成段，等前面落地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43400"/>
            <a:ext cx="10835640" cy="5029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45312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结果按原序回填   1 OK  ·  2 OK  ·  3 OK      完成顺序可以不同，写入历史永远是 1 → 2 →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工具执行前还有三道：参数校验 / 循环护栏 / 危险命令审批 —— 任何一道都能拦下这次调用。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回边：这不是一次问答，是一个循环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模型返回工具结果后，回到装配再问一次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A94A"/>
                </a:solidFill>
                <a:latin typeface="SF Mono"/>
                <a:ea typeface="SF Mon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6E1"/>
                </a:solidFill>
                <a:latin typeface="Helvetica Neue"/>
                <a:ea typeface="PingFang SC"/>
              </a:rPr>
              <a:t>请求装配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331720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977640" y="2450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AA9E0"/>
                </a:solidFill>
                <a:latin typeface="SF Mono"/>
                <a:ea typeface="SF Mono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2697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6E1"/>
                </a:solidFill>
                <a:latin typeface="Helvetica Neue"/>
                <a:ea typeface="PingFang SC"/>
              </a:rPr>
              <a:t>调用模型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331720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86600" y="2450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FBF9A"/>
                </a:solidFill>
                <a:latin typeface="SF Mono"/>
                <a:ea typeface="SF Mono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697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6E1"/>
                </a:solidFill>
                <a:latin typeface="Helvetica Neue"/>
                <a:ea typeface="PingFang SC"/>
              </a:rPr>
              <a:t>工具轮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27248" y="2724912"/>
            <a:ext cx="548640" cy="182880"/>
          </a:xfrm>
          <a:prstGeom prst="rightArrow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236208" y="2724912"/>
            <a:ext cx="548640" cy="182880"/>
          </a:xfrm>
          <a:prstGeom prst="rightArrow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065008" y="3291840"/>
            <a:ext cx="0" cy="841247"/>
          </a:xfrm>
          <a:prstGeom prst="line">
            <a:avLst/>
          </a:prstGeom>
          <a:ln w="17780">
            <a:solidFill>
              <a:srgbClr val="E0A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47088" y="4133087"/>
            <a:ext cx="6217920" cy="0"/>
          </a:xfrm>
          <a:prstGeom prst="line">
            <a:avLst/>
          </a:prstGeom>
          <a:ln w="17780">
            <a:solidFill>
              <a:srgbClr val="E0A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847088" y="3328416"/>
            <a:ext cx="0" cy="804671"/>
          </a:xfrm>
          <a:prstGeom prst="line">
            <a:avLst/>
          </a:prstGeom>
          <a:ln w="17780">
            <a:solidFill>
              <a:srgbClr val="E0A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3785615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E0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E0A94A"/>
                </a:solidFill>
                <a:latin typeface="SF Mono"/>
                <a:ea typeface="SF Mono"/>
              </a:rPr>
              <a:t>← 回边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785615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最多 500 次调用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26280"/>
            <a:ext cx="5212080" cy="9601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4672584"/>
            <a:ext cx="48280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每次回到 03 都带着新的工具结果；turn 不重启，只循环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26280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27648" y="4672584"/>
            <a:ext cx="5010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预算耗尽还有一次恩典调用：让模型体面收尾，而不是被切断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循环上界是设计出来的（max_iterations），不是靠模型自觉。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收尾：四道闸门防止「假完成」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模型说完了，不等于事情做完了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60320" cy="2057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4088" y="2020824"/>
            <a:ext cx="45720" cy="1764792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20824"/>
            <a:ext cx="217627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A9E0"/>
                </a:solidFill>
                <a:latin typeface="Helvetica Neue"/>
                <a:ea typeface="PingFang SC"/>
              </a:rPr>
              <a:t>LSP 延迟诊断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本轮改过代码，语言服务器 300ms 后才报错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74519"/>
            <a:ext cx="2560320" cy="2057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447288" y="2020824"/>
            <a:ext cx="45720" cy="1764792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020824"/>
            <a:ext cx="217627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A94A"/>
                </a:solidFill>
                <a:latin typeface="Helvetica Neue"/>
                <a:ea typeface="PingFang SC"/>
              </a:rPr>
              <a:t>verify-on-stop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开启后要求模型先自证再收尾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2560320" cy="2057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190488" y="2020824"/>
            <a:ext cx="45720" cy="1764792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20824"/>
            <a:ext cx="217627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FBF9A"/>
                </a:solidFill>
                <a:latin typeface="Helvetica Neue"/>
                <a:ea typeface="PingFang SC"/>
              </a:rPr>
              <a:t>pre_verify hook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插件在代码编辑后强制复核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874519"/>
            <a:ext cx="2560320" cy="205740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933688" y="2020824"/>
            <a:ext cx="45720" cy="1764792"/>
          </a:xfrm>
          <a:prstGeom prst="roundRect">
            <a:avLst>
              <a:gd name="adj" fmla="val 50000"/>
            </a:avLst>
          </a:prstGeom>
          <a:solidFill>
            <a:srgbClr val="E0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2020824"/>
            <a:ext cx="217627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A6A"/>
                </a:solidFill>
                <a:latin typeface="Helvetica Neue"/>
                <a:ea typeface="PingFang SC"/>
              </a:rPr>
              <a:t>kanban 终态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看板任务未走 complete/block 不许停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1C2027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9AA0A8"/>
                </a:solidFill>
                <a:latin typeface="Helvetica Neue"/>
                <a:ea typeface="PingFang SC"/>
              </a:rPr>
              <a:t>被拦下的答案不会丢：存进 </a:t>
            </a:r>
            <a:r>
              <a:rPr sz="1050" b="0" i="0">
                <a:solidFill>
                  <a:srgbClr val="E0A94A"/>
                </a:solidFill>
                <a:latin typeface="SF Mono"/>
                <a:ea typeface="SF Mono"/>
              </a:rPr>
              <a:t>pending_verification_response</a:t>
            </a:r>
            <a:r>
              <a:rPr sz="1050" b="0" i="0">
                <a:solidFill>
                  <a:srgbClr val="9AA0A8"/>
                </a:solidFill>
                <a:latin typeface="Helvetica Neue"/>
                <a:ea typeface="PingFang SC"/>
              </a:rPr>
              <a:t>，预算耗尽时作为兜底返回 —— 质量闸门与「永不空手而归」的折中。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闸门都是「追加一条 user nudge 后继续」，而不是推翻重来。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finalize：把这一轮安顿好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三个落点，一次完成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310896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14400" y="2084831"/>
            <a:ext cx="45720" cy="45720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0482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94A"/>
                </a:solidFill>
                <a:latin typeface="SF Mono"/>
                <a:ea typeface="SF Mono"/>
              </a:rPr>
              <a:t>state.db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957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Helvetica Neue"/>
                <a:ea typeface="PingFang SC"/>
              </a:rPr>
              <a:t>SQLite · append-only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88920"/>
            <a:ext cx="265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消息写入会话库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usage 与压缩标记同写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会话可 resume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337560" cy="310896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72000" y="2084831"/>
            <a:ext cx="45720" cy="457200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0482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AA9E0"/>
                </a:solidFill>
                <a:latin typeface="SF Mono"/>
                <a:ea typeface="SF Mono"/>
              </a:rPr>
              <a:t>MEMORY.md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957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Helvetica Neue"/>
                <a:ea typeface="PingFang SC"/>
              </a:rPr>
              <a:t>记忆只落盘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788920"/>
            <a:ext cx="265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会话中写入不重建 prompt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快照在下次会话生效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不打断本轮缓存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337560" cy="310896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229600" y="2084831"/>
            <a:ext cx="45720" cy="457200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0482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BF9A"/>
                </a:solidFill>
                <a:latin typeface="SF Mono"/>
                <a:ea typeface="SF Mono"/>
              </a:rPr>
              <a:t>review fork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957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Helvetica Neue"/>
                <a:ea typeface="PingFang SC"/>
              </a:rPr>
              <a:t>触发回合后复盘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788920"/>
            <a:ext cx="265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后台线程，非阻塞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继承前缀缓存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结果写回技能库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80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6FB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FBF9A"/>
                </a:solidFill>
                <a:latin typeface="SF Mono"/>
                <a:ea typeface="SF Mono"/>
              </a:rPr>
              <a:t>APPEND-ONLY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5212080"/>
            <a:ext cx="251460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单写者 · 网关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212080"/>
            <a:ext cx="306324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压缩用 active=0/1 世代标记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落盘永远发生在回复之后 —— 所以崩溃时最坏情况是丢最后一条，而不是整段对话。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复盘：回合结束后，它偷偷学了一手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fork 一个自己，只写技能和记忆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6E1"/>
                </a:solidFill>
                <a:latin typeface="Helvetica Neue"/>
                <a:ea typeface="PingFang SC"/>
              </a:rPr>
              <a:t>主回合结束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Helvetica Neue"/>
                <a:ea typeface="PingFang SC"/>
              </a:rPr>
              <a:t>finalize_turn 完成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2587752"/>
            <a:ext cx="502920" cy="201168"/>
          </a:xfrm>
          <a:prstGeom prst="rightArrow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2971800" cy="1051560"/>
          </a:xfrm>
          <a:prstGeom prst="roundRect">
            <a:avLst>
              <a:gd name="adj" fmla="val 6000"/>
            </a:avLst>
          </a:prstGeom>
          <a:solidFill>
            <a:srgbClr val="1C2027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A94A"/>
                </a:solidFill>
                <a:latin typeface="Helvetica Neue"/>
                <a:ea typeface="PingFang SC"/>
              </a:rPr>
              <a:t>复盘 AIAgent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Helvetica Neue"/>
                <a:ea typeface="PingFang SC"/>
              </a:rPr>
              <a:t>同一 provider / 模型 / 缓存前缀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60920" y="2670048"/>
            <a:ext cx="457200" cy="0"/>
          </a:xfrm>
          <a:prstGeom prst="line">
            <a:avLst/>
          </a:prstGeom>
          <a:ln w="12700">
            <a:solidFill>
              <a:srgbClr val="3A4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818120" y="2240280"/>
            <a:ext cx="0" cy="429768"/>
          </a:xfrm>
          <a:prstGeom prst="line">
            <a:avLst/>
          </a:prstGeom>
          <a:ln w="12700">
            <a:solidFill>
              <a:srgbClr val="3A4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18120" y="2670048"/>
            <a:ext cx="0" cy="438912"/>
          </a:xfrm>
          <a:prstGeom prst="line">
            <a:avLst/>
          </a:prstGeom>
          <a:ln w="12700">
            <a:solidFill>
              <a:srgbClr val="3A4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7818120" y="2148840"/>
            <a:ext cx="365760" cy="182880"/>
          </a:xfrm>
          <a:prstGeom prst="rightArrow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18120" y="3017520"/>
            <a:ext cx="365760" cy="182880"/>
          </a:xfrm>
          <a:prstGeom prst="rightArrow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920240"/>
            <a:ext cx="3200400" cy="86868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39327" y="2066544"/>
            <a:ext cx="45720" cy="576071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66544"/>
            <a:ext cx="281635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0A94A"/>
                </a:solidFill>
                <a:latin typeface="Helvetica Neue"/>
                <a:ea typeface="PingFang SC"/>
              </a:rPr>
              <a:t>SKILL.md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9AA0A8"/>
                </a:solidFill>
                <a:latin typeface="Helvetica Neue"/>
                <a:ea typeface="PingFang SC"/>
              </a:rPr>
              <a:t>改已加载技能 → 加支撑文件 → 才新建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907792"/>
            <a:ext cx="3200400" cy="86868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339327" y="3054096"/>
            <a:ext cx="45720" cy="576071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3054096"/>
            <a:ext cx="281635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AA9E0"/>
                </a:solidFill>
                <a:latin typeface="Helvetica Neue"/>
                <a:ea typeface="PingFang SC"/>
              </a:rPr>
              <a:t>MEMORY.md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9AA0A8"/>
                </a:solidFill>
                <a:latin typeface="Helvetica Neue"/>
                <a:ea typeface="PingFang SC"/>
              </a:rPr>
              <a:t>只记用户是谁，不记这类活怎么做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77639"/>
            <a:ext cx="6035040" cy="777240"/>
          </a:xfrm>
          <a:prstGeom prst="roundRect">
            <a:avLst>
              <a:gd name="adj" fmla="val 6000"/>
            </a:avLst>
          </a:prstGeom>
          <a:solidFill>
            <a:srgbClr val="1C2027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BF9A"/>
                </a:solidFill>
                <a:latin typeface="Helvetica Neue"/>
                <a:ea typeface="PingFang SC"/>
              </a:rPr>
              <a:t>只写 store，不碰主会话 prompt —— 主缓存不会被打断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3977639"/>
            <a:ext cx="4617720" cy="77724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04888" y="4123944"/>
            <a:ext cx="4233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强制 read-before-write：改之前必须本轮 skill_view 一次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学习发生在回合之外，所以它不会拖慢你等待的那次回复。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STATION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交付：回复回到它该去的地方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turn 结束，但会话还活着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502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0A8"/>
                </a:solidFill>
                <a:latin typeface="SF Mono"/>
                <a:ea typeface="SF Mono"/>
              </a:rPr>
              <a:t>STATION 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4088" y="2020824"/>
            <a:ext cx="45720" cy="1124712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20824"/>
            <a:ext cx="29992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AA9E0"/>
                </a:solidFill>
                <a:latin typeface="Helvetica Neue"/>
                <a:ea typeface="PingFang SC"/>
              </a:rPr>
              <a:t>终端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流式渲染 · 工具输出内联 · reasoning 可折叠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361688" y="2020824"/>
            <a:ext cx="45720" cy="1124712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20824"/>
            <a:ext cx="29992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0A94A"/>
                </a:solidFill>
                <a:latin typeface="Helvetica Neue"/>
                <a:ea typeface="PingFang SC"/>
              </a:rPr>
              <a:t>消息平台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按平台切分长消息 · Markdown 转义 · 附件回传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874519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019288" y="2020824"/>
            <a:ext cx="45720" cy="1124712"/>
          </a:xfrm>
          <a:prstGeom prst="roundRect">
            <a:avLst>
              <a:gd name="adj" fmla="val 50000"/>
            </a:avLst>
          </a:prstGeom>
          <a:solidFill>
            <a:srgbClr val="6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2020824"/>
            <a:ext cx="29992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FBF9A"/>
                </a:solidFill>
                <a:latin typeface="Helvetica Neue"/>
                <a:ea typeface="PingFang SC"/>
              </a:rPr>
              <a:t>桌面 / IDE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事件帧渲染 · 会话列表更新 · 可继续追问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11880"/>
            <a:ext cx="10835640" cy="960120"/>
          </a:xfrm>
          <a:prstGeom prst="roundRect">
            <a:avLst>
              <a:gd name="adj" fmla="val 6000"/>
            </a:avLst>
          </a:prstGeom>
          <a:solidFill>
            <a:srgbClr val="1C2027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turn 结束后：</a:t>
            </a:r>
            <a:r>
              <a:rPr sz="1000" b="0" i="0">
                <a:solidFill>
                  <a:srgbClr val="E8E6E1"/>
                </a:solidFill>
                <a:latin typeface="Helvetica Neue"/>
                <a:ea typeface="PingFang SC"/>
              </a:rPr>
              <a:t>会话仍在 state.db 里，下一次输入会复用同一个 session —— 但会重新走一遍 STATION 01。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2803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6FB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FBF9A"/>
                </a:solidFill>
                <a:latin typeface="SF Mono"/>
                <a:ea typeface="SF Mono"/>
              </a:rPr>
              <a:t>可 resume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482803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可导出 trajectory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482803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 w="7620">
            <a:solidFill>
              <a:srgbClr val="9A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9AA0A8"/>
                </a:solidFill>
                <a:latin typeface="SF Mono"/>
                <a:ea typeface="SF Mono"/>
              </a:rPr>
              <a:t>可被 cron 复用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一次 turn 的终点不是回复，而是「状态可继续」。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SIDE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三个岔路口：turn 也可能提前结束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8"/>
                </a:solidFill>
                <a:latin typeface="Helvetica Neue"/>
                <a:ea typeface="PingFang SC"/>
              </a:rPr>
              <a:t>不是所有输入都会走到第 12 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41832" y="2084831"/>
            <a:ext cx="365760" cy="91440"/>
          </a:xfrm>
          <a:prstGeom prst="roundRect">
            <a:avLst>
              <a:gd name="adj" fmla="val 50000"/>
            </a:avLst>
          </a:prstGeom>
          <a:solidFill>
            <a:srgbClr val="6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2402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6E1"/>
                </a:solidFill>
                <a:latin typeface="Helvetica Neue"/>
                <a:ea typeface="PingFang SC"/>
              </a:rPr>
              <a:t>中断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060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A9E0"/>
                </a:solidFill>
                <a:latin typeface="Helvetica Neue"/>
                <a:ea typeface="PingFang SC"/>
              </a:rPr>
              <a:t>用户 /stop、/steer、超时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17520"/>
            <a:ext cx="2880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API 线程被放弃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响应不入历史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turn 标记 interrupted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可直接开始新 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599432" y="2084831"/>
            <a:ext cx="365760" cy="9144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2402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6E1"/>
                </a:solidFill>
                <a:latin typeface="Helvetica Neue"/>
                <a:ea typeface="PingFang SC"/>
              </a:rPr>
              <a:t>上下文溢出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060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A94A"/>
                </a:solidFill>
                <a:latin typeface="Helvetica Neue"/>
                <a:ea typeface="PingFang SC"/>
              </a:rPr>
              <a:t>provider 报 context_overflow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017520"/>
            <a:ext cx="2880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先压缩，不是换模型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压缩失败走兜底摘要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再失败则轮换会话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transcript 保留原样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171A1F"/>
          </a:solidFill>
          <a:ln w="9525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257031" y="2084831"/>
            <a:ext cx="365760" cy="91440"/>
          </a:xfrm>
          <a:prstGeom prst="roundRect">
            <a:avLst>
              <a:gd name="adj" fmla="val 50000"/>
            </a:avLst>
          </a:prstGeom>
          <a:solidFill>
            <a:srgbClr val="E0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22402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6E1"/>
                </a:solidFill>
                <a:latin typeface="Helvetica Neue"/>
                <a:ea typeface="PingFang SC"/>
              </a:rPr>
              <a:t>API 失败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6060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7A6A"/>
                </a:solidFill>
                <a:latin typeface="Helvetica Neue"/>
                <a:ea typeface="PingFang SC"/>
              </a:rPr>
              <a:t>429 / 503 / 401 / 404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017520"/>
            <a:ext cx="2880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分类 30+ 种原因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退避 / 换 key / 换模型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走 fallback 链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9AA0A8"/>
                </a:solidFill>
                <a:latin typeface="Helvetica Neue"/>
                <a:ea typeface="PingFang SC"/>
              </a:rPr>
              <a:t>· 仍有一次宽限重试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42432"/>
            <a:ext cx="54864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69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E8E6E1"/>
                </a:solidFill>
                <a:latin typeface="Helvetica Neue"/>
                <a:ea typeface="PingFang SC"/>
              </a:rPr>
              <a:t>三条岔路的共同点：都不会把半成品写进历史。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A94A"/>
                </a:solidFill>
                <a:latin typeface="SF Mono"/>
                <a:ea typeface="SF Mono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6E1"/>
                </a:solidFill>
                <a:latin typeface="Helvetica Neue"/>
                <a:ea typeface="PingFang SC"/>
              </a:rPr>
              <a:t>如果只记五件事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A94A"/>
                </a:solidFill>
                <a:latin typeface="SF Mono"/>
                <a:ea typeface="SF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916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6E1"/>
                </a:solidFill>
                <a:latin typeface="Helvetica Neue"/>
                <a:ea typeface="PingFang SC"/>
              </a:rPr>
              <a:t>回合是唯一执行单元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7190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一次输入 = 一次 turn；循环、预算、中断都挂在它上面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322576"/>
            <a:ext cx="10762488" cy="0"/>
          </a:xfrm>
          <a:prstGeom prst="line">
            <a:avLst/>
          </a:prstGeom>
          <a:ln w="9525">
            <a:solidFill>
              <a:srgbClr val="2428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52374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A94A"/>
                </a:solidFill>
                <a:latin typeface="SF Mono"/>
                <a:ea typeface="SF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7802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6E1"/>
                </a:solidFill>
                <a:latin typeface="Helvetica Neue"/>
                <a:ea typeface="PingFang SC"/>
              </a:rPr>
              <a:t>上下文是最稀缺资源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50545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prompt 冻结保缓存，压缩是唯一合法的历史改写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108960"/>
            <a:ext cx="10762488" cy="0"/>
          </a:xfrm>
          <a:prstGeom prst="line">
            <a:avLst/>
          </a:prstGeom>
          <a:ln w="9525">
            <a:solidFill>
              <a:srgbClr val="2428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310127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A94A"/>
                </a:solidFill>
                <a:latin typeface="SF Mono"/>
                <a:ea typeface="SF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64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6E1"/>
                </a:solidFill>
                <a:latin typeface="Helvetica Neue"/>
                <a:ea typeface="PingFang SC"/>
              </a:rPr>
              <a:t>并发是规划出来的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29183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按路径冲突分段，结果永远按原序回填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895344"/>
            <a:ext cx="10762488" cy="0"/>
          </a:xfrm>
          <a:prstGeom prst="line">
            <a:avLst/>
          </a:prstGeom>
          <a:ln w="9525">
            <a:solidFill>
              <a:srgbClr val="2428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096511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A94A"/>
                </a:solidFill>
                <a:latin typeface="SF Mono"/>
                <a:ea typeface="SF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5079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6E1"/>
                </a:solidFill>
                <a:latin typeface="Helvetica Neue"/>
                <a:ea typeface="PingFang SC"/>
              </a:rPr>
              <a:t>失败要分类，不要重试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0782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30+ 种原因对应六类动作，混成一个 except 就是事故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4681727"/>
            <a:ext cx="10762488" cy="0"/>
          </a:xfrm>
          <a:prstGeom prst="line">
            <a:avLst/>
          </a:prstGeom>
          <a:ln w="9525">
            <a:solidFill>
              <a:srgbClr val="2428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8828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A94A"/>
                </a:solidFill>
                <a:latin typeface="SF Mono"/>
                <a:ea typeface="SF Mon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371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6E1"/>
                </a:solidFill>
                <a:latin typeface="Helvetica Neue"/>
                <a:ea typeface="PingFang SC"/>
              </a:rPr>
              <a:t>学习在回合之外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8646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8"/>
                </a:solidFill>
                <a:latin typeface="Helvetica Neue"/>
                <a:ea typeface="PingFang SC"/>
              </a:rPr>
              <a:t>fork 复盘只写技能与记忆，不打断主会话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5468112"/>
            <a:ext cx="10762488" cy="0"/>
          </a:xfrm>
          <a:prstGeom prst="line">
            <a:avLst/>
          </a:prstGeom>
          <a:ln w="9525">
            <a:solidFill>
              <a:srgbClr val="2428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078"/>
                </a:solidFill>
                <a:latin typeface="Helvetica Neue"/>
                <a:ea typeface="PingFang SC"/>
              </a:rPr>
              <a:t>配套产物：hermes-agent-flow.html（逐站动画）  ·  hermes-agent-animation.html（架构动画）  ·  Hermes-Agent-架构模型.md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一条消息的完整旅程 · hermes-agent</dc:title>
  <dc:subject>hermes-agent 从输入到交付的完整流程</dc:subject>
  <dc:creator>Hermes 源码分析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